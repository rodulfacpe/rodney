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51560"/>
            <a:ext cx="73152" cy="4297680"/>
          </a:xfrm>
          <a:prstGeom prst="rect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417320"/>
            <a:ext cx="98755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C1F23"/>
                </a:solidFill>
                <a:latin typeface="Arial"/>
              </a:defRPr>
            </a:pPr>
            <a:r>
              <a:t>THE INFORMATION AGE</a:t>
            </a:r>
          </a:p>
          <a:p>
            <a:pPr>
              <a:spcBef>
                <a:spcPts val="1800"/>
              </a:spcBef>
              <a:defRPr sz="1800">
                <a:solidFill>
                  <a:srgbClr val="70767C"/>
                </a:solidFill>
                <a:latin typeface="Arial"/>
              </a:defRPr>
            </a:pPr>
            <a:r>
              <a:t>Week 13  •  Science, Technology and Society</a:t>
            </a:r>
          </a:p>
          <a:p>
            <a:pPr>
              <a:spcBef>
                <a:spcPts val="2600"/>
              </a:spcBef>
              <a:defRPr sz="1500">
                <a:solidFill>
                  <a:srgbClr val="3E4349"/>
                </a:solidFill>
                <a:latin typeface="Arial"/>
              </a:defRPr>
            </a:pPr>
            <a:r>
              <a:t>A short module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10972"/>
          </a:xfrm>
          <a:prstGeom prst="rect">
            <a:avLst/>
          </a:prstGeom>
          <a:solidFill>
            <a:srgbClr val="E8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0767C"/>
                </a:solidFill>
                <a:latin typeface="Arial"/>
              </a:defRPr>
            </a:pPr>
            <a:r>
              <a:t>GEC 007  •  SCIENCE, TECHNOLOGY AND SOCIETY</a:t>
            </a:r>
          </a:p>
          <a:p>
            <a:pPr algn="r">
              <a:defRPr sz="800">
                <a:solidFill>
                  <a:srgbClr val="70767C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70767C"/>
                </a:solidFill>
                <a:latin typeface="Arial"/>
              </a:defRPr>
            </a:pPr>
            <a:r>
              <a:t>01  / 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1F23"/>
                </a:solidFill>
                <a:latin typeface="Arial"/>
              </a:defRPr>
            </a:pPr>
            <a:r>
              <a:t>What is the Information Age?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10972"/>
          </a:xfrm>
          <a:prstGeom prst="rect">
            <a:avLst/>
          </a:prstGeom>
          <a:solidFill>
            <a:srgbClr val="E8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0767C"/>
                </a:solidFill>
                <a:latin typeface="Arial"/>
              </a:defRPr>
            </a:pPr>
            <a:r>
              <a:t>GEC 007  •  SCIENCE, TECHNOLOGY AND SOCIETY</a:t>
            </a:r>
          </a:p>
          <a:p>
            <a:pPr algn="r">
              <a:defRPr sz="800">
                <a:solidFill>
                  <a:srgbClr val="70767C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300">
                <a:solidFill>
                  <a:srgbClr val="3E4349"/>
                </a:solidFill>
                <a:latin typeface="Arial"/>
              </a:defRPr>
            </a:pPr>
            <a:r>
              <a:t>Also known as the Digital Age or Computer Age.</a:t>
            </a:r>
          </a:p>
          <a:p>
            <a:pPr>
              <a:spcAft>
                <a:spcPts val="2200"/>
              </a:spcAft>
              <a:defRPr sz="2300">
                <a:solidFill>
                  <a:srgbClr val="3E4349"/>
                </a:solidFill>
                <a:latin typeface="Arial"/>
              </a:defRPr>
            </a:pPr>
            <a:r>
              <a:t>A shift from traditional industry to an economy based on information technology.</a:t>
            </a:r>
          </a:p>
          <a:p>
            <a:pPr>
              <a:spcAft>
                <a:spcPts val="2200"/>
              </a:spcAft>
              <a:defRPr sz="2300">
                <a:solidFill>
                  <a:srgbClr val="3E4349"/>
                </a:solidFill>
                <a:latin typeface="Arial"/>
              </a:defRPr>
            </a:pPr>
            <a:r>
              <a:t>Began in the late 20th century and continues today.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70767C"/>
                </a:solidFill>
                <a:latin typeface="Arial"/>
              </a:defRPr>
            </a:pPr>
            <a:r>
              <a:t>02  /  CHARACTERISTICS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1F23"/>
                </a:solidFill>
                <a:latin typeface="Arial"/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10972"/>
          </a:xfrm>
          <a:prstGeom prst="rect">
            <a:avLst/>
          </a:prstGeom>
          <a:solidFill>
            <a:srgbClr val="E8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0767C"/>
                </a:solidFill>
                <a:latin typeface="Arial"/>
              </a:defRPr>
            </a:pPr>
            <a:r>
              <a:t>GEC 007  •  SCIENCE, TECHNOLOGY AND SOCIETY</a:t>
            </a:r>
          </a:p>
          <a:p>
            <a:pPr algn="r">
              <a:defRPr sz="800">
                <a:solidFill>
                  <a:srgbClr val="70767C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944014" cy="3566160"/>
          </a:xfrm>
          <a:prstGeom prst="roundRect">
            <a:avLst/>
          </a:prstGeom>
          <a:solidFill>
            <a:srgbClr val="F8F9FA"/>
          </a:solidFill>
          <a:ln>
            <a:solidFill>
              <a:srgbClr val="E8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219456" rIns="164592" bIns="137160" rtlCol="0" anchor="t"/>
          <a:lstStyle/>
          <a:p>
            <a:pPr algn="ctr">
              <a:spcAft>
                <a:spcPts val="1200"/>
              </a:spcAft>
              <a:defRPr sz="1700" b="1">
                <a:solidFill>
                  <a:srgbClr val="1C1F23"/>
                </a:solidFill>
                <a:latin typeface="Arial"/>
              </a:defRPr>
            </a:pPr>
            <a:r>
              <a:t>Digital technology</a:t>
            </a:r>
          </a:p>
          <a:p>
            <a:pPr>
              <a:spcAft>
                <a:spcPts val="400"/>
              </a:spcAft>
              <a:defRPr sz="1400">
                <a:solidFill>
                  <a:srgbClr val="3E4349"/>
                </a:solidFill>
                <a:latin typeface="Arial"/>
              </a:defRPr>
            </a:pPr>
            <a:r>
              <a:t>Computers, the internet, and mobile devices.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31566" y="1737360"/>
            <a:ext cx="1944014" cy="3566160"/>
          </a:xfrm>
          <a:prstGeom prst="roundRect">
            <a:avLst/>
          </a:prstGeom>
          <a:solidFill>
            <a:srgbClr val="F8F9FA"/>
          </a:solidFill>
          <a:ln>
            <a:solidFill>
              <a:srgbClr val="E8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219456" rIns="164592" bIns="137160" rtlCol="0" anchor="t"/>
          <a:lstStyle/>
          <a:p>
            <a:pPr algn="ctr">
              <a:spcAft>
                <a:spcPts val="1200"/>
              </a:spcAft>
              <a:defRPr sz="1700" b="1">
                <a:solidFill>
                  <a:srgbClr val="1C1F23"/>
                </a:solidFill>
                <a:latin typeface="Arial"/>
              </a:defRPr>
            </a:pPr>
            <a:r>
              <a:t>Information access</a:t>
            </a:r>
          </a:p>
          <a:p>
            <a:pPr>
              <a:spcAft>
                <a:spcPts val="400"/>
              </a:spcAft>
              <a:defRPr sz="1400">
                <a:solidFill>
                  <a:srgbClr val="3E4349"/>
                </a:solidFill>
                <a:latin typeface="Arial"/>
              </a:defRPr>
            </a:pPr>
            <a:r>
              <a:t>Vast amounts of knowledge available online.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31612" y="1737360"/>
            <a:ext cx="1944014" cy="3566160"/>
          </a:xfrm>
          <a:prstGeom prst="roundRect">
            <a:avLst/>
          </a:prstGeom>
          <a:solidFill>
            <a:srgbClr val="F8F9FA"/>
          </a:solidFill>
          <a:ln>
            <a:solidFill>
              <a:srgbClr val="E8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219456" rIns="164592" bIns="137160" rtlCol="0" anchor="t"/>
          <a:lstStyle/>
          <a:p>
            <a:pPr algn="ctr">
              <a:spcAft>
                <a:spcPts val="1200"/>
              </a:spcAft>
              <a:defRPr sz="1700" b="1">
                <a:solidFill>
                  <a:srgbClr val="1C1F23"/>
                </a:solidFill>
                <a:latin typeface="Arial"/>
              </a:defRPr>
            </a:pPr>
            <a:r>
              <a:t>Global connectivity</a:t>
            </a:r>
          </a:p>
          <a:p>
            <a:pPr>
              <a:spcAft>
                <a:spcPts val="400"/>
              </a:spcAft>
              <a:defRPr sz="1400">
                <a:solidFill>
                  <a:srgbClr val="3E4349"/>
                </a:solidFill>
                <a:latin typeface="Arial"/>
              </a:defRPr>
            </a:pPr>
            <a:r>
              <a:t>Instant communication and collaboration worldwide.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31659" y="1737360"/>
            <a:ext cx="1944014" cy="3566160"/>
          </a:xfrm>
          <a:prstGeom prst="roundRect">
            <a:avLst/>
          </a:prstGeom>
          <a:solidFill>
            <a:srgbClr val="F8F9FA"/>
          </a:solidFill>
          <a:ln>
            <a:solidFill>
              <a:srgbClr val="E8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219456" rIns="164592" bIns="137160" rtlCol="0" anchor="t"/>
          <a:lstStyle/>
          <a:p>
            <a:pPr algn="ctr">
              <a:spcAft>
                <a:spcPts val="1200"/>
              </a:spcAft>
              <a:defRPr sz="1700" b="1">
                <a:solidFill>
                  <a:srgbClr val="1C1F23"/>
                </a:solidFill>
                <a:latin typeface="Arial"/>
              </a:defRPr>
            </a:pPr>
            <a:r>
              <a:t>Automation &amp; AI</a:t>
            </a:r>
          </a:p>
          <a:p>
            <a:pPr>
              <a:spcAft>
                <a:spcPts val="400"/>
              </a:spcAft>
              <a:defRPr sz="1400">
                <a:solidFill>
                  <a:srgbClr val="3E4349"/>
                </a:solidFill>
                <a:latin typeface="Arial"/>
              </a:defRPr>
            </a:pPr>
            <a:r>
              <a:t>Machines and algorithms perform many human tasks.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31705" y="1737360"/>
            <a:ext cx="1944014" cy="3566160"/>
          </a:xfrm>
          <a:prstGeom prst="roundRect">
            <a:avLst/>
          </a:prstGeom>
          <a:solidFill>
            <a:srgbClr val="F8F9FA"/>
          </a:solidFill>
          <a:ln>
            <a:solidFill>
              <a:srgbClr val="E8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219456" rIns="164592" bIns="137160" rtlCol="0" anchor="t"/>
          <a:lstStyle/>
          <a:p>
            <a:pPr algn="ctr">
              <a:spcAft>
                <a:spcPts val="1200"/>
              </a:spcAft>
              <a:defRPr sz="1700" b="1">
                <a:solidFill>
                  <a:srgbClr val="1C1F23"/>
                </a:solidFill>
                <a:latin typeface="Arial"/>
              </a:defRPr>
            </a:pPr>
            <a:r>
              <a:t>Data-driven society</a:t>
            </a:r>
          </a:p>
          <a:p>
            <a:pPr>
              <a:spcAft>
                <a:spcPts val="400"/>
              </a:spcAft>
              <a:defRPr sz="1400">
                <a:solidFill>
                  <a:srgbClr val="3E4349"/>
                </a:solidFill>
                <a:latin typeface="Arial"/>
              </a:defRPr>
            </a:pPr>
            <a:r>
              <a:t>Data helps guide decisions across many fields.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70767C"/>
                </a:solidFill>
                <a:latin typeface="Arial"/>
              </a:defRPr>
            </a:pPr>
            <a:r>
              <a:t>03  / 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1F23"/>
                </a:solidFill>
                <a:latin typeface="Arial"/>
              </a:defRPr>
            </a:pPr>
            <a:r>
              <a:t>How it developed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10972"/>
          </a:xfrm>
          <a:prstGeom prst="rect">
            <a:avLst/>
          </a:prstGeom>
          <a:solidFill>
            <a:srgbClr val="E8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0767C"/>
                </a:solidFill>
                <a:latin typeface="Arial"/>
              </a:defRPr>
            </a:pPr>
            <a:r>
              <a:t>GEC 007  •  SCIENCE, TECHNOLOGY AND SOCIETY</a:t>
            </a:r>
          </a:p>
          <a:p>
            <a:pPr algn="r">
              <a:defRPr sz="800">
                <a:solidFill>
                  <a:srgbClr val="70767C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063240"/>
            <a:ext cx="10012680" cy="32004"/>
          </a:xfrm>
          <a:prstGeom prst="rect">
            <a:avLst/>
          </a:prstGeom>
          <a:solidFill>
            <a:srgbClr val="E8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39" y="2994660"/>
            <a:ext cx="173736" cy="173736"/>
          </a:xfrm>
          <a:prstGeom prst="ellipse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965960"/>
            <a:ext cx="1508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1F23"/>
                </a:solidFill>
                <a:latin typeface="Arial"/>
              </a:defRPr>
            </a:pPr>
            <a:r>
              <a:t>1940s–50s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19" y="23317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E4349"/>
                </a:solidFill>
                <a:latin typeface="Arial"/>
              </a:defRPr>
            </a:pPr>
            <a:r>
              <a:t>First digital</a:t>
            </a:r>
            <a:br/>
            <a:r>
              <a:t>computers</a:t>
            </a:r>
          </a:p>
        </p:txBody>
      </p:sp>
      <p:sp>
        <p:nvSpPr>
          <p:cNvPr id="10" name="Oval 9"/>
          <p:cNvSpPr/>
          <p:nvPr/>
        </p:nvSpPr>
        <p:spPr>
          <a:xfrm>
            <a:off x="4297680" y="2994660"/>
            <a:ext cx="173736" cy="173736"/>
          </a:xfrm>
          <a:prstGeom prst="ellipse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30752" y="3429000"/>
            <a:ext cx="1508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1F23"/>
                </a:solidFill>
                <a:latin typeface="Arial"/>
              </a:defRPr>
            </a:pPr>
            <a:r>
              <a:t>1970s–80s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7947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E4349"/>
                </a:solidFill>
                <a:latin typeface="Arial"/>
              </a:defRPr>
            </a:pPr>
            <a:r>
              <a:t>Personal computers</a:t>
            </a:r>
            <a:br/>
            <a:r>
              <a:t>and early networks</a:t>
            </a:r>
          </a:p>
        </p:txBody>
      </p:sp>
      <p:sp>
        <p:nvSpPr>
          <p:cNvPr id="13" name="Oval 12"/>
          <p:cNvSpPr/>
          <p:nvPr/>
        </p:nvSpPr>
        <p:spPr>
          <a:xfrm>
            <a:off x="7589520" y="2994660"/>
            <a:ext cx="173736" cy="173736"/>
          </a:xfrm>
          <a:prstGeom prst="ellipse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22592" y="1965960"/>
            <a:ext cx="1508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1F23"/>
                </a:solidFill>
                <a:latin typeface="Arial"/>
              </a:defRPr>
            </a:pPr>
            <a:r>
              <a:t>1990s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3317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E4349"/>
                </a:solidFill>
                <a:latin typeface="Arial"/>
              </a:defRPr>
            </a:pPr>
            <a:r>
              <a:t>Internet and</a:t>
            </a:r>
            <a:br/>
            <a:r>
              <a:t>World Wide Web</a:t>
            </a:r>
          </a:p>
        </p:txBody>
      </p:sp>
      <p:sp>
        <p:nvSpPr>
          <p:cNvPr id="16" name="Oval 15"/>
          <p:cNvSpPr/>
          <p:nvPr/>
        </p:nvSpPr>
        <p:spPr>
          <a:xfrm>
            <a:off x="10881360" y="2994660"/>
            <a:ext cx="173736" cy="173736"/>
          </a:xfrm>
          <a:prstGeom prst="ellipse">
            <a:avLst/>
          </a:prstGeom>
          <a:solidFill>
            <a:srgbClr val="1C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14432" y="3429000"/>
            <a:ext cx="1508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1F23"/>
                </a:solidFill>
                <a:latin typeface="Arial"/>
              </a:defRPr>
            </a:pPr>
            <a:r>
              <a:t>2000s–today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37947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E4349"/>
                </a:solidFill>
                <a:latin typeface="Arial"/>
              </a:defRPr>
            </a:pPr>
            <a:r>
              <a:t>Mobile internet, cloud,</a:t>
            </a:r>
            <a:br/>
            <a:r>
              <a:t>social media and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70767C"/>
                </a:solidFill>
                <a:latin typeface="Arial"/>
              </a:defRPr>
            </a:pPr>
            <a:r>
              <a:t>04  /  PEOPLE AND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1F23"/>
                </a:solidFill>
                <a:latin typeface="Arial"/>
              </a:defRPr>
            </a:pPr>
            <a:r>
              <a:t>Key pioneers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10972"/>
          </a:xfrm>
          <a:prstGeom prst="rect">
            <a:avLst/>
          </a:prstGeom>
          <a:solidFill>
            <a:srgbClr val="E8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0767C"/>
                </a:solidFill>
                <a:latin typeface="Arial"/>
              </a:defRPr>
            </a:pPr>
            <a:r>
              <a:t>GEC 007  •  SCIENCE, TECHNOLOGY AND SOCIETY</a:t>
            </a:r>
          </a:p>
          <a:p>
            <a:pPr algn="r">
              <a:defRPr sz="800">
                <a:solidFill>
                  <a:srgbClr val="70767C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494026" cy="3566160"/>
          </a:xfrm>
          <a:prstGeom prst="roundRect">
            <a:avLst/>
          </a:prstGeom>
          <a:solidFill>
            <a:srgbClr val="F8F9FA"/>
          </a:solidFill>
          <a:ln>
            <a:solidFill>
              <a:srgbClr val="E8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219456" rIns="164592" bIns="137160" rtlCol="0" anchor="t"/>
          <a:lstStyle/>
          <a:p>
            <a:pPr algn="ctr">
              <a:spcAft>
                <a:spcPts val="1200"/>
              </a:spcAft>
              <a:defRPr sz="1700" b="1">
                <a:solidFill>
                  <a:srgbClr val="1C1F23"/>
                </a:solidFill>
                <a:latin typeface="Arial"/>
              </a:defRPr>
            </a:pPr>
            <a:r>
              <a:t>Alan Turing</a:t>
            </a:r>
          </a:p>
          <a:p>
            <a:pPr>
              <a:spcAft>
                <a:spcPts val="400"/>
              </a:spcAft>
              <a:defRPr sz="1500">
                <a:solidFill>
                  <a:srgbClr val="3E4349"/>
                </a:solidFill>
                <a:latin typeface="Arial"/>
              </a:defRPr>
            </a:pPr>
            <a:r>
              <a:t>Foundations of computing; Turing Machine; Enigma codebreaking.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1578" y="1783080"/>
            <a:ext cx="2494026" cy="3566160"/>
          </a:xfrm>
          <a:prstGeom prst="roundRect">
            <a:avLst/>
          </a:prstGeom>
          <a:solidFill>
            <a:srgbClr val="F8F9FA"/>
          </a:solidFill>
          <a:ln>
            <a:solidFill>
              <a:srgbClr val="E8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219456" rIns="164592" bIns="137160" rtlCol="0" anchor="t"/>
          <a:lstStyle/>
          <a:p>
            <a:pPr algn="ctr">
              <a:spcAft>
                <a:spcPts val="1200"/>
              </a:spcAft>
              <a:defRPr sz="1700" b="1">
                <a:solidFill>
                  <a:srgbClr val="1C1F23"/>
                </a:solidFill>
                <a:latin typeface="Arial"/>
              </a:defRPr>
            </a:pPr>
            <a:r>
              <a:t>John von Neumann</a:t>
            </a:r>
          </a:p>
          <a:p>
            <a:pPr>
              <a:spcAft>
                <a:spcPts val="400"/>
              </a:spcAft>
              <a:defRPr sz="1500">
                <a:solidFill>
                  <a:srgbClr val="3E4349"/>
                </a:solidFill>
                <a:latin typeface="Arial"/>
              </a:defRPr>
            </a:pPr>
            <a:r>
              <a:t>Architecture of modern computers: processing, memory and input/output.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1636" y="1783080"/>
            <a:ext cx="2494026" cy="3566160"/>
          </a:xfrm>
          <a:prstGeom prst="roundRect">
            <a:avLst/>
          </a:prstGeom>
          <a:solidFill>
            <a:srgbClr val="F8F9FA"/>
          </a:solidFill>
          <a:ln>
            <a:solidFill>
              <a:srgbClr val="E8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219456" rIns="164592" bIns="137160" rtlCol="0" anchor="t"/>
          <a:lstStyle/>
          <a:p>
            <a:pPr algn="ctr">
              <a:spcAft>
                <a:spcPts val="1200"/>
              </a:spcAft>
              <a:defRPr sz="1700" b="1">
                <a:solidFill>
                  <a:srgbClr val="1C1F23"/>
                </a:solidFill>
                <a:latin typeface="Arial"/>
              </a:defRPr>
            </a:pPr>
            <a:r>
              <a:t>Claude Shannon</a:t>
            </a:r>
          </a:p>
          <a:p>
            <a:pPr>
              <a:spcAft>
                <a:spcPts val="400"/>
              </a:spcAft>
              <a:defRPr sz="1500">
                <a:solidFill>
                  <a:srgbClr val="3E4349"/>
                </a:solidFill>
                <a:latin typeface="Arial"/>
              </a:defRPr>
            </a:pPr>
            <a:r>
              <a:t>Information theory; foundations for digital circuits and communication.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81694" y="1783080"/>
            <a:ext cx="2494026" cy="3566160"/>
          </a:xfrm>
          <a:prstGeom prst="roundRect">
            <a:avLst/>
          </a:prstGeom>
          <a:solidFill>
            <a:srgbClr val="F8F9FA"/>
          </a:solidFill>
          <a:ln>
            <a:solidFill>
              <a:srgbClr val="E8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219456" rIns="164592" bIns="137160" rtlCol="0" anchor="t"/>
          <a:lstStyle/>
          <a:p>
            <a:pPr algn="ctr">
              <a:spcAft>
                <a:spcPts val="1200"/>
              </a:spcAft>
              <a:defRPr sz="1700" b="1">
                <a:solidFill>
                  <a:srgbClr val="1C1F23"/>
                </a:solidFill>
                <a:latin typeface="Arial"/>
              </a:defRPr>
            </a:pPr>
            <a:r>
              <a:t>Vannevar Bush</a:t>
            </a:r>
          </a:p>
          <a:p>
            <a:pPr>
              <a:spcAft>
                <a:spcPts val="400"/>
              </a:spcAft>
              <a:defRPr sz="1500">
                <a:solidFill>
                  <a:srgbClr val="3E4349"/>
                </a:solidFill>
                <a:latin typeface="Arial"/>
              </a:defRPr>
            </a:pPr>
            <a:r>
              <a:t>Memex concept for organizing information; inspired hypertext.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70767C"/>
                </a:solidFill>
                <a:latin typeface="Arial"/>
              </a:defRPr>
            </a:pPr>
            <a:r>
              <a:t>04  /  PEOPLE AND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1F23"/>
                </a:solidFill>
                <a:latin typeface="Arial"/>
              </a:defRPr>
            </a:pPr>
            <a:r>
              <a:t>Key pioneers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10972"/>
          </a:xfrm>
          <a:prstGeom prst="rect">
            <a:avLst/>
          </a:prstGeom>
          <a:solidFill>
            <a:srgbClr val="E8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0767C"/>
                </a:solidFill>
                <a:latin typeface="Arial"/>
              </a:defRPr>
            </a:pPr>
            <a:r>
              <a:t>GEC 007  •  SCIENCE, TECHNOLOGY AND SOCIETY</a:t>
            </a:r>
          </a:p>
          <a:p>
            <a:pPr algn="r">
              <a:defRPr sz="800">
                <a:solidFill>
                  <a:srgbClr val="70767C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944014" cy="3566160"/>
          </a:xfrm>
          <a:prstGeom prst="roundRect">
            <a:avLst/>
          </a:prstGeom>
          <a:solidFill>
            <a:srgbClr val="F8F9FA"/>
          </a:solidFill>
          <a:ln>
            <a:solidFill>
              <a:srgbClr val="E8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219456" rIns="164592" bIns="137160" rtlCol="0" anchor="t"/>
          <a:lstStyle/>
          <a:p>
            <a:pPr algn="ctr">
              <a:spcAft>
                <a:spcPts val="1200"/>
              </a:spcAft>
              <a:defRPr sz="1700" b="1">
                <a:solidFill>
                  <a:srgbClr val="1C1F23"/>
                </a:solidFill>
                <a:latin typeface="Arial"/>
              </a:defRPr>
            </a:pPr>
            <a:r>
              <a:t>Tim Berners-Lee</a:t>
            </a:r>
          </a:p>
          <a:p>
            <a:pPr>
              <a:spcAft>
                <a:spcPts val="400"/>
              </a:spcAft>
              <a:defRPr sz="1300">
                <a:solidFill>
                  <a:srgbClr val="3E4349"/>
                </a:solidFill>
                <a:latin typeface="Arial"/>
              </a:defRPr>
            </a:pPr>
            <a:r>
              <a:t>Invented the World Wide Web; developed HTML, HTTP and an early browser.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31566" y="1783080"/>
            <a:ext cx="1944014" cy="3566160"/>
          </a:xfrm>
          <a:prstGeom prst="roundRect">
            <a:avLst/>
          </a:prstGeom>
          <a:solidFill>
            <a:srgbClr val="F8F9FA"/>
          </a:solidFill>
          <a:ln>
            <a:solidFill>
              <a:srgbClr val="E8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219456" rIns="164592" bIns="137160" rtlCol="0" anchor="t"/>
          <a:lstStyle/>
          <a:p>
            <a:pPr algn="ctr">
              <a:spcAft>
                <a:spcPts val="1200"/>
              </a:spcAft>
              <a:defRPr sz="1700" b="1">
                <a:solidFill>
                  <a:srgbClr val="1C1F23"/>
                </a:solidFill>
                <a:latin typeface="Arial"/>
              </a:defRPr>
            </a:pPr>
            <a:r>
              <a:t>Steve Jobs &amp; Steve Wozniak</a:t>
            </a:r>
          </a:p>
          <a:p>
            <a:pPr>
              <a:spcAft>
                <a:spcPts val="400"/>
              </a:spcAft>
              <a:defRPr sz="1300">
                <a:solidFill>
                  <a:srgbClr val="3E4349"/>
                </a:solidFill>
                <a:latin typeface="Arial"/>
              </a:defRPr>
            </a:pPr>
            <a:r>
              <a:t>Helped popularize personal computing through Apple I and Macintosh.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31612" y="1783080"/>
            <a:ext cx="1944014" cy="3566160"/>
          </a:xfrm>
          <a:prstGeom prst="roundRect">
            <a:avLst/>
          </a:prstGeom>
          <a:solidFill>
            <a:srgbClr val="F8F9FA"/>
          </a:solidFill>
          <a:ln>
            <a:solidFill>
              <a:srgbClr val="E8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219456" rIns="164592" bIns="137160" rtlCol="0" anchor="t"/>
          <a:lstStyle/>
          <a:p>
            <a:pPr algn="ctr">
              <a:spcAft>
                <a:spcPts val="1200"/>
              </a:spcAft>
              <a:defRPr sz="1700" b="1">
                <a:solidFill>
                  <a:srgbClr val="1C1F23"/>
                </a:solidFill>
                <a:latin typeface="Arial"/>
              </a:defRPr>
            </a:pPr>
            <a:r>
              <a:t>Bill Gates</a:t>
            </a:r>
          </a:p>
          <a:p>
            <a:pPr>
              <a:spcAft>
                <a:spcPts val="400"/>
              </a:spcAft>
              <a:defRPr sz="1300">
                <a:solidFill>
                  <a:srgbClr val="3E4349"/>
                </a:solidFill>
                <a:latin typeface="Arial"/>
              </a:defRPr>
            </a:pPr>
            <a:r>
              <a:t>Co-founded Microsoft; helped popularize software and Windows.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31659" y="1783080"/>
            <a:ext cx="1944014" cy="3566160"/>
          </a:xfrm>
          <a:prstGeom prst="roundRect">
            <a:avLst/>
          </a:prstGeom>
          <a:solidFill>
            <a:srgbClr val="F8F9FA"/>
          </a:solidFill>
          <a:ln>
            <a:solidFill>
              <a:srgbClr val="E8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219456" rIns="164592" bIns="137160" rtlCol="0" anchor="t"/>
          <a:lstStyle/>
          <a:p>
            <a:pPr algn="ctr">
              <a:spcAft>
                <a:spcPts val="1200"/>
              </a:spcAft>
              <a:defRPr sz="1700" b="1">
                <a:solidFill>
                  <a:srgbClr val="1C1F23"/>
                </a:solidFill>
                <a:latin typeface="Arial"/>
              </a:defRPr>
            </a:pPr>
            <a:r>
              <a:t>Mark Zuckerberg</a:t>
            </a:r>
          </a:p>
          <a:p>
            <a:pPr>
              <a:spcAft>
                <a:spcPts val="400"/>
              </a:spcAft>
              <a:defRPr sz="1300">
                <a:solidFill>
                  <a:srgbClr val="3E4349"/>
                </a:solidFill>
                <a:latin typeface="Arial"/>
              </a:defRPr>
            </a:pPr>
            <a:r>
              <a:t>Founded Facebook; influenced online communication and sharing.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31705" y="1783080"/>
            <a:ext cx="1944014" cy="3566160"/>
          </a:xfrm>
          <a:prstGeom prst="roundRect">
            <a:avLst/>
          </a:prstGeom>
          <a:solidFill>
            <a:srgbClr val="F8F9FA"/>
          </a:solidFill>
          <a:ln>
            <a:solidFill>
              <a:srgbClr val="E8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219456" rIns="164592" bIns="137160" rtlCol="0" anchor="t"/>
          <a:lstStyle/>
          <a:p>
            <a:pPr algn="ctr">
              <a:spcAft>
                <a:spcPts val="1200"/>
              </a:spcAft>
              <a:defRPr sz="1700" b="1">
                <a:solidFill>
                  <a:srgbClr val="1C1F23"/>
                </a:solidFill>
                <a:latin typeface="Arial"/>
              </a:defRPr>
            </a:pPr>
            <a:r>
              <a:t>Larry Page &amp; Sergey Brin</a:t>
            </a:r>
          </a:p>
          <a:p>
            <a:pPr>
              <a:spcAft>
                <a:spcPts val="400"/>
              </a:spcAft>
              <a:defRPr sz="1300">
                <a:solidFill>
                  <a:srgbClr val="3E4349"/>
                </a:solidFill>
                <a:latin typeface="Arial"/>
              </a:defRPr>
            </a:pPr>
            <a:r>
              <a:t>Created Google and advanced information retrieval.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7784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70767C"/>
                </a:solidFill>
                <a:latin typeface="Arial"/>
              </a:defRPr>
            </a:pPr>
            <a:r>
              <a:t>Historical mention: Ada Lovelace is often regarded as the first computer programmer.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70767C"/>
                </a:solidFill>
                <a:latin typeface="Arial"/>
              </a:defRPr>
            </a:pPr>
            <a:r>
              <a:t>05  /  BENEFITS AND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1F23"/>
                </a:solidFill>
                <a:latin typeface="Arial"/>
              </a:defRPr>
            </a:pPr>
            <a:r>
              <a:t>Effects of the Information 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10972"/>
          </a:xfrm>
          <a:prstGeom prst="rect">
            <a:avLst/>
          </a:prstGeom>
          <a:solidFill>
            <a:srgbClr val="E8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0767C"/>
                </a:solidFill>
                <a:latin typeface="Arial"/>
              </a:defRPr>
            </a:pPr>
            <a:r>
              <a:t>GEC 007  •  SCIENCE, TECHNOLOGY AND SOCIETY</a:t>
            </a:r>
          </a:p>
          <a:p>
            <a:pPr algn="r">
              <a:defRPr sz="800">
                <a:solidFill>
                  <a:srgbClr val="70767C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44084" cy="3566160"/>
          </a:xfrm>
          <a:prstGeom prst="roundRect">
            <a:avLst/>
          </a:prstGeom>
          <a:solidFill>
            <a:srgbClr val="F8F9FA"/>
          </a:solidFill>
          <a:ln>
            <a:solidFill>
              <a:srgbClr val="E8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219456" rIns="164592" bIns="137160" rtlCol="0" anchor="t"/>
          <a:lstStyle/>
          <a:p>
            <a:pPr algn="ctr">
              <a:spcAft>
                <a:spcPts val="1200"/>
              </a:spcAft>
              <a:defRPr sz="1700" b="1">
                <a:solidFill>
                  <a:srgbClr val="1C1F23"/>
                </a:solidFill>
                <a:latin typeface="Arial"/>
              </a:defRPr>
            </a:pPr>
            <a:r>
              <a:t>Positive effects</a:t>
            </a:r>
          </a:p>
          <a:p>
            <a:pPr>
              <a:spcAft>
                <a:spcPts val="400"/>
              </a:spcAft>
              <a:defRPr sz="1900">
                <a:solidFill>
                  <a:srgbClr val="3E4349"/>
                </a:solidFill>
                <a:latin typeface="Arial"/>
              </a:defRPr>
            </a:pPr>
            <a:r>
              <a:t>• Easier access to education and knowledge</a:t>
            </a:r>
            <a:br/>
            <a:br/>
            <a:r>
              <a:t>• Flexible and remote work</a:t>
            </a:r>
            <a:br/>
            <a:br/>
            <a:r>
              <a:t>• Innovation in health, finance and communication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1636" y="1828800"/>
            <a:ext cx="5244084" cy="3566160"/>
          </a:xfrm>
          <a:prstGeom prst="roundRect">
            <a:avLst/>
          </a:prstGeom>
          <a:solidFill>
            <a:srgbClr val="F8F9FA"/>
          </a:solidFill>
          <a:ln>
            <a:solidFill>
              <a:srgbClr val="E8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219456" rIns="164592" bIns="137160" rtlCol="0" anchor="t"/>
          <a:lstStyle/>
          <a:p>
            <a:pPr algn="ctr">
              <a:spcAft>
                <a:spcPts val="1200"/>
              </a:spcAft>
              <a:defRPr sz="1700" b="1">
                <a:solidFill>
                  <a:srgbClr val="1C1F23"/>
                </a:solidFill>
                <a:latin typeface="Arial"/>
              </a:defRPr>
            </a:pPr>
            <a:r>
              <a:t>Negative effects</a:t>
            </a:r>
          </a:p>
          <a:p>
            <a:pPr>
              <a:spcAft>
                <a:spcPts val="400"/>
              </a:spcAft>
              <a:defRPr sz="1900">
                <a:solidFill>
                  <a:srgbClr val="3E4349"/>
                </a:solidFill>
                <a:latin typeface="Arial"/>
              </a:defRPr>
            </a:pPr>
            <a:r>
              <a:t>• Privacy and data security concerns</a:t>
            </a:r>
            <a:br/>
            <a:br/>
            <a:r>
              <a:t>• Digital divide</a:t>
            </a:r>
            <a:br/>
            <a:br/>
            <a:r>
              <a:t>• Job displacement due to automation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70767C"/>
                </a:solidFill>
                <a:latin typeface="Arial"/>
              </a:defRPr>
            </a:pPr>
            <a:r>
              <a:t>06  /  DIGITAL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1F23"/>
                </a:solidFill>
                <a:latin typeface="Arial"/>
              </a:defRPr>
            </a:pPr>
            <a:r>
              <a:t>Social media in the Information 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10972"/>
          </a:xfrm>
          <a:prstGeom prst="rect">
            <a:avLst/>
          </a:prstGeom>
          <a:solidFill>
            <a:srgbClr val="E8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0767C"/>
                </a:solidFill>
                <a:latin typeface="Arial"/>
              </a:defRPr>
            </a:pPr>
            <a:r>
              <a:t>GEC 007  •  SCIENCE, TECHNOLOGY AND SOCIETY</a:t>
            </a:r>
          </a:p>
          <a:p>
            <a:pPr algn="r">
              <a:defRPr sz="800">
                <a:solidFill>
                  <a:srgbClr val="70767C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3E4349"/>
                </a:solidFill>
                <a:latin typeface="Arial"/>
              </a:defRPr>
            </a:pPr>
            <a:r>
              <a:t>Platforms include Facebook, X/Twitter, TikTok, Instagram, Reddit and YouTube.</a:t>
            </a:r>
          </a:p>
          <a:p>
            <a:pPr>
              <a:spcAft>
                <a:spcPts val="1500"/>
              </a:spcAft>
              <a:defRPr sz="2000">
                <a:solidFill>
                  <a:srgbClr val="3E4349"/>
                </a:solidFill>
                <a:latin typeface="Arial"/>
              </a:defRPr>
            </a:pPr>
            <a:r>
              <a:t>Communication is instant; users both create and consume content.</a:t>
            </a:r>
          </a:p>
          <a:p>
            <a:pPr>
              <a:spcAft>
                <a:spcPts val="1500"/>
              </a:spcAft>
              <a:defRPr sz="2000">
                <a:solidFill>
                  <a:srgbClr val="3E4349"/>
                </a:solidFill>
                <a:latin typeface="Arial"/>
              </a:defRPr>
            </a:pPr>
            <a:r>
              <a:t>Content can spread rapidly, sometimes without verification.</a:t>
            </a:r>
          </a:p>
          <a:p>
            <a:pPr>
              <a:spcAft>
                <a:spcPts val="1500"/>
              </a:spcAft>
              <a:defRPr sz="2000">
                <a:solidFill>
                  <a:srgbClr val="3E4349"/>
                </a:solidFill>
                <a:latin typeface="Arial"/>
              </a:defRPr>
            </a:pPr>
            <a:r>
              <a:t>Algorithms influence what users see.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70767C"/>
                </a:solidFill>
                <a:latin typeface="Arial"/>
              </a:defRPr>
            </a:pPr>
            <a:r>
              <a:t>06  /  DIGITAL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1F23"/>
                </a:solidFill>
                <a:latin typeface="Arial"/>
              </a:defRPr>
            </a:pPr>
            <a:r>
              <a:t>Social media: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10972"/>
          </a:xfrm>
          <a:prstGeom prst="rect">
            <a:avLst/>
          </a:prstGeom>
          <a:solidFill>
            <a:srgbClr val="E8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0767C"/>
                </a:solidFill>
                <a:latin typeface="Arial"/>
              </a:defRPr>
            </a:pPr>
            <a:r>
              <a:t>GEC 007  •  SCIENCE, TECHNOLOGY AND SOCIETY</a:t>
            </a:r>
          </a:p>
          <a:p>
            <a:pPr algn="r">
              <a:defRPr sz="800">
                <a:solidFill>
                  <a:srgbClr val="70767C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44084" cy="3566160"/>
          </a:xfrm>
          <a:prstGeom prst="roundRect">
            <a:avLst/>
          </a:prstGeom>
          <a:solidFill>
            <a:srgbClr val="F8F9FA"/>
          </a:solidFill>
          <a:ln>
            <a:solidFill>
              <a:srgbClr val="E8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219456" rIns="164592" bIns="137160" rtlCol="0" anchor="t"/>
          <a:lstStyle/>
          <a:p>
            <a:pPr algn="ctr">
              <a:spcAft>
                <a:spcPts val="1200"/>
              </a:spcAft>
              <a:defRPr sz="1700" b="1">
                <a:solidFill>
                  <a:srgbClr val="1C1F23"/>
                </a:solidFill>
                <a:latin typeface="Arial"/>
              </a:defRPr>
            </a:pPr>
            <a:r>
              <a:t>Positive</a:t>
            </a:r>
          </a:p>
          <a:p>
            <a:pPr>
              <a:spcAft>
                <a:spcPts val="400"/>
              </a:spcAft>
              <a:defRPr sz="1700">
                <a:solidFill>
                  <a:srgbClr val="3E4349"/>
                </a:solidFill>
                <a:latin typeface="Arial"/>
              </a:defRPr>
            </a:pPr>
            <a:r>
              <a:t>• More voices can be heard</a:t>
            </a:r>
            <a:br/>
            <a:br/>
            <a:r>
              <a:t>• Real-time news and updates</a:t>
            </a:r>
            <a:br/>
            <a:br/>
            <a:r>
              <a:t>• Communities form around shared interests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1636" y="1828800"/>
            <a:ext cx="5244084" cy="3566160"/>
          </a:xfrm>
          <a:prstGeom prst="roundRect">
            <a:avLst/>
          </a:prstGeom>
          <a:solidFill>
            <a:srgbClr val="F8F9FA"/>
          </a:solidFill>
          <a:ln>
            <a:solidFill>
              <a:srgbClr val="E8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219456" rIns="164592" bIns="137160" rtlCol="0" anchor="t"/>
          <a:lstStyle/>
          <a:p>
            <a:pPr algn="ctr">
              <a:spcAft>
                <a:spcPts val="1200"/>
              </a:spcAft>
              <a:defRPr sz="1700" b="1">
                <a:solidFill>
                  <a:srgbClr val="1C1F23"/>
                </a:solidFill>
                <a:latin typeface="Arial"/>
              </a:defRPr>
            </a:pPr>
            <a:r>
              <a:t>Negative</a:t>
            </a:r>
          </a:p>
          <a:p>
            <a:pPr>
              <a:spcAft>
                <a:spcPts val="400"/>
              </a:spcAft>
              <a:defRPr sz="1700">
                <a:solidFill>
                  <a:srgbClr val="3E4349"/>
                </a:solidFill>
                <a:latin typeface="Arial"/>
              </a:defRPr>
            </a:pPr>
            <a:r>
              <a:t>• Misinformation and disinformation</a:t>
            </a:r>
            <a:br/>
            <a:br/>
            <a:r>
              <a:t>• Echo chambers and polarization</a:t>
            </a:r>
            <a:br/>
            <a:br/>
            <a:r>
              <a:t>• Data exploitation and privacy concerns</a:t>
            </a:r>
            <a:br/>
            <a:br/>
            <a:r>
              <a:t>• Possible mental health effects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70767C"/>
                </a:solidFill>
                <a:latin typeface="Arial"/>
              </a:defRPr>
            </a:pPr>
            <a:r>
              <a:t>07  /  WHAT IS CHANGING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1F23"/>
                </a:solidFill>
                <a:latin typeface="Arial"/>
              </a:defRPr>
            </a:pPr>
            <a:r>
              <a:t>Current trends (as of 2025)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10972"/>
          </a:xfrm>
          <a:prstGeom prst="rect">
            <a:avLst/>
          </a:prstGeom>
          <a:solidFill>
            <a:srgbClr val="E8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0767C"/>
                </a:solidFill>
                <a:latin typeface="Arial"/>
              </a:defRPr>
            </a:pPr>
            <a:r>
              <a:t>GEC 007  •  SCIENCE, TECHNOLOGY AND SOCIETY</a:t>
            </a:r>
          </a:p>
          <a:p>
            <a:pPr algn="r">
              <a:defRPr sz="800">
                <a:solidFill>
                  <a:srgbClr val="70767C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3E4349"/>
                </a:solidFill>
                <a:latin typeface="Arial"/>
              </a:defRPr>
            </a:pPr>
            <a:r>
              <a:t>Decentralized platforms, such as Mastodon and Bluesky.</a:t>
            </a:r>
          </a:p>
          <a:p>
            <a:pPr>
              <a:spcAft>
                <a:spcPts val="1600"/>
              </a:spcAft>
              <a:defRPr sz="1900">
                <a:solidFill>
                  <a:srgbClr val="3E4349"/>
                </a:solidFill>
                <a:latin typeface="Arial"/>
              </a:defRPr>
            </a:pPr>
            <a:r>
              <a:t>More AI-generated media and influencers.</a:t>
            </a:r>
          </a:p>
          <a:p>
            <a:pPr>
              <a:spcAft>
                <a:spcPts val="1600"/>
              </a:spcAft>
              <a:defRPr sz="1900">
                <a:solidFill>
                  <a:srgbClr val="3E4349"/>
                </a:solidFill>
                <a:latin typeface="Arial"/>
              </a:defRPr>
            </a:pPr>
            <a:r>
              <a:t>Tighter regulation of harmful content, misinformation and monopolistic practices.</a:t>
            </a:r>
          </a:p>
          <a:p>
            <a:pPr>
              <a:spcAft>
                <a:spcPts val="1600"/>
              </a:spcAft>
              <a:defRPr sz="1900">
                <a:solidFill>
                  <a:srgbClr val="3E4349"/>
                </a:solidFill>
                <a:latin typeface="Arial"/>
              </a:defRPr>
            </a:pPr>
            <a:r>
              <a:t>Growing demand for transparency in recommendation algorithms.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70767C"/>
                </a:solidFill>
                <a:latin typeface="Arial"/>
              </a:defRPr>
            </a:pPr>
            <a:r>
              <a:t>08  /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1F23"/>
                </a:solidFill>
                <a:latin typeface="Arial"/>
              </a:defRPr>
            </a:pPr>
            <a:r>
              <a:t>Key 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10972"/>
          </a:xfrm>
          <a:prstGeom prst="rect">
            <a:avLst/>
          </a:prstGeom>
          <a:solidFill>
            <a:srgbClr val="E8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0767C"/>
                </a:solidFill>
                <a:latin typeface="Arial"/>
              </a:defRPr>
            </a:pPr>
            <a:r>
              <a:t>GEC 007  •  SCIENCE, TECHNOLOGY AND SOCIETY</a:t>
            </a:r>
          </a:p>
          <a:p>
            <a:pPr algn="r">
              <a:defRPr sz="800">
                <a:solidFill>
                  <a:srgbClr val="70767C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200">
                <a:solidFill>
                  <a:srgbClr val="3E4349"/>
                </a:solidFill>
                <a:latin typeface="Arial"/>
              </a:defRPr>
            </a:pPr>
            <a:r>
              <a:t>The Information Age transformed how people create, share and access information.</a:t>
            </a:r>
          </a:p>
          <a:p>
            <a:pPr>
              <a:spcAft>
                <a:spcPts val="2200"/>
              </a:spcAft>
              <a:defRPr sz="2200">
                <a:solidFill>
                  <a:srgbClr val="3E4349"/>
                </a:solidFill>
                <a:latin typeface="Arial"/>
              </a:defRPr>
            </a:pPr>
            <a:r>
              <a:t>Social media connects people but can also shape public opinion and personal well-being.</a:t>
            </a:r>
          </a:p>
          <a:p>
            <a:pPr>
              <a:spcAft>
                <a:spcPts val="2200"/>
              </a:spcAft>
              <a:defRPr sz="2200">
                <a:solidFill>
                  <a:srgbClr val="3E4349"/>
                </a:solidFill>
                <a:latin typeface="Arial"/>
              </a:defRPr>
            </a:pPr>
            <a:r>
              <a:t>Digital literacy, awareness of misinformation, privacy protection and ethical governance are essential.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Joma Rodulfa</cp:lastModifiedBy>
  <cp:revision>2</cp:revision>
  <dcterms:created xsi:type="dcterms:W3CDTF">2013-01-27T09:14:16Z</dcterms:created>
  <dcterms:modified xsi:type="dcterms:W3CDTF">2026-10-23T07:12:01Z</dcterms:modified>
  <cp:category/>
</cp:coreProperties>
</file>